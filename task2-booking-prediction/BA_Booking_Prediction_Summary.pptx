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51F5291-FFDE-DF74-9EF1-66E372234883}" name="Shruti Patil" initials="SP" userId="e621306fdc0eb0e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F45"/>
    <a:srgbClr val="C8102E"/>
    <a:srgbClr val="5B6B8C"/>
    <a:srgbClr val="B5BDCD"/>
    <a:srgbClr val="EFE9E3"/>
    <a:srgbClr val="F2ECE3"/>
    <a:srgbClr val="EEF1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835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3D31B-C871-45C1-AFC6-3A9749B2C18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3B0A6B-D126-48D0-9100-DEA178C66C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599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A41E2-507D-0991-F08B-813B4794F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7C8569-0FE4-5EC3-F140-C9619FC39C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B8F3F-6741-E1E1-C4E6-CED86ECE6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5C7FA-32DC-4B9B-BAEB-A7BAE3448C6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AB565-EB61-7CEB-A3BA-B05CC28B5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619A4-1C66-7F32-F909-F25206F9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9E2D4-0743-462F-AFF0-62B638C77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319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D3432-FA30-EB60-0CF3-4CBDB7293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7E705-6230-B89D-0494-5F292440B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2E974-4D82-8F11-9373-53538D86A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5C7FA-32DC-4B9B-BAEB-A7BAE3448C6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E96C4-0B2A-B58C-7ED6-51BCC4C7D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BC377-A619-3101-27D9-919BAFA63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9E2D4-0743-462F-AFF0-62B638C77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851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33CF0-8D72-FB63-D277-37F15667B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0EE1A-A9DF-24CC-2496-8C3135122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FC130-2B43-D06B-D3B1-DF4D3799F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5C7FA-32DC-4B9B-BAEB-A7BAE3448C6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A4110-994A-A9FB-9412-E1C1370D4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A0583-A964-6B7E-7DFD-4ACB002C8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9E2D4-0743-462F-AFF0-62B638C77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557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9D85C-4752-2D53-B001-788458E49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93BC4-B855-6FD3-CFF1-110907F0AE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B00755-EA6B-9E9E-0CF5-91E4C1DC1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5A6E0-066C-3622-D9A2-1AC090AD2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5C7FA-32DC-4B9B-BAEB-A7BAE3448C6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794ED-9C6F-74DB-0A7D-7FC6A50AD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6AF87-D2A3-0BEE-CFF6-87E943036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9E2D4-0743-462F-AFF0-62B638C77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521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21352-164F-D085-1235-A4E71561B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45E03-4552-9703-A87E-D7F6C3AEF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C11AE7-D9B7-4F82-55EF-37D21366F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5B06B4-BEAF-8C0E-031A-6D9BEBD930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052757-5547-C13F-4C55-8C86080199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E4E501-08E5-5979-A9C7-7694C683D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5C7FA-32DC-4B9B-BAEB-A7BAE3448C6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2E3CD3-3F04-D0A0-FD18-E5E7E2BCD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2E014F-2FED-FE73-D6FC-06D2C2B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9E2D4-0743-462F-AFF0-62B638C77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775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23C46-C4F2-5640-12F8-45272677D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79E055-C3F5-4CDB-B8A4-9B93D1F18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5C7FA-32DC-4B9B-BAEB-A7BAE3448C6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22FDA5-2EF5-FCA5-28BF-59316E490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09FA84-2413-FFC5-C6D2-ABB22876F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9E2D4-0743-462F-AFF0-62B638C77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297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9ECE58-8091-D782-CB08-C2A8DE998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5C7FA-32DC-4B9B-BAEB-A7BAE3448C6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0535FE-FCFA-B013-EE12-C3C00FB46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34A64-4979-9538-DBF8-11601C369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9E2D4-0743-462F-AFF0-62B638C77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38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1241F-BE3E-1AD2-E46C-B7F3F3FC2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7D95A-6F05-FD6B-A0CC-7251D8458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535624-7207-9CE1-C5D4-4F3020C28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0911A-9D4E-FB7D-01FC-68F4FEE0D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5C7FA-32DC-4B9B-BAEB-A7BAE3448C6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25C03-71AA-437E-9C56-02AE3D783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3837E-031B-BE84-B257-3D06A6B13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9E2D4-0743-462F-AFF0-62B638C77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737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7A1D7-DB86-1A55-59E7-28C14BDEC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BB70CB-5103-161B-7A23-463ECA6787E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09CA2D-CBE8-4088-37FB-D998E8BAE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A166F-8228-2F15-870E-A06C17B27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5C7FA-32DC-4B9B-BAEB-A7BAE3448C6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E6555A-AE6F-7042-85EA-9025F15B5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703FA-002F-263F-A769-E19270E20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9E2D4-0743-462F-AFF0-62B638C77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852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BC51D-D88F-FF20-01ED-50C4ADBC6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3DEEED-49B7-81AA-E754-56242A42A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55B92-AF0F-3EB5-B962-C2B94A66F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5C7FA-32DC-4B9B-BAEB-A7BAE3448C6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754B3-5639-4BBD-25EC-D95C16438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DF9B2-29BF-69C4-7E75-E7EB067C7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9E2D4-0743-462F-AFF0-62B638C77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064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80370C-DD5B-0F9A-0E0C-F8C681540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0E3154-0BFB-4AF8-E331-313549666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B322E-7657-4CB7-CC2E-B5396CC85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5C7FA-32DC-4B9B-BAEB-A7BAE3448C6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70B18-4FF0-26FF-A2A5-3B3B1513E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A8FFF-2156-BAAB-F9B5-A899D9B4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9E2D4-0743-462F-AFF0-62B638C77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53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134161-9553-A787-F919-79E83400C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861E0-49AA-4E48-F4C3-23A14AEC1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FE48D-6291-C7C2-2F7E-BA33D48EB7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75C7FA-32DC-4B9B-BAEB-A7BAE3448C6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B466A-CA39-F951-BCD3-A38286532F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50540-5D88-681C-37CC-F202607B3C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49E2D4-0743-462F-AFF0-62B638C77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674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A3CFE5-3F5A-5F4C-0AB2-8CBC316DF6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61" y="204737"/>
            <a:ext cx="1728242" cy="2677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09E6A6-28EE-D8F4-E8E6-57B86992BB50}"/>
              </a:ext>
            </a:extLst>
          </p:cNvPr>
          <p:cNvSpPr txBox="1"/>
          <p:nvPr/>
        </p:nvSpPr>
        <p:spPr>
          <a:xfrm>
            <a:off x="152400" y="701040"/>
            <a:ext cx="9269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B1F45"/>
                </a:solidFill>
                <a:latin typeface="Abadi" panose="020B0604020104020204" pitchFamily="34" charset="0"/>
              </a:rPr>
              <a:t>Booking origin is the strongest predictor of a completed booking</a:t>
            </a:r>
            <a:endParaRPr lang="en-IN" sz="1600" dirty="0">
              <a:solidFill>
                <a:srgbClr val="0B1F45"/>
              </a:solidFill>
              <a:latin typeface="Abadi" panose="020B0604020104020204" pitchFamily="34" charset="0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08871116-D5FE-8ED3-D1B0-B2B62ECB0CCB}"/>
              </a:ext>
            </a:extLst>
          </p:cNvPr>
          <p:cNvSpPr txBox="1"/>
          <p:nvPr/>
        </p:nvSpPr>
        <p:spPr>
          <a:xfrm>
            <a:off x="264160" y="1223329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5B6B8C"/>
                </a:solidFill>
                <a:latin typeface="Abadi" panose="020B0604020104020204" pitchFamily="34" charset="0"/>
              </a:rPr>
              <a:t>Random Forest trained to predict booking completion. The data is moderately predictive: the model correctly ranks who is more likely to book 80% of the time. </a:t>
            </a:r>
            <a:r>
              <a:rPr lang="en-IN" sz="1400" dirty="0">
                <a:solidFill>
                  <a:srgbClr val="5B6B8C"/>
                </a:solidFill>
                <a:latin typeface="Abadi" panose="020B0604020104020204" pitchFamily="34" charset="0"/>
              </a:rPr>
              <a:t>Accuracy (81%) is not a useful measure here, as always predicting “no booking” already gives 85%.</a:t>
            </a:r>
            <a:endParaRPr lang="en-US" sz="1400" dirty="0">
              <a:solidFill>
                <a:srgbClr val="5B6B8C"/>
              </a:solidFill>
              <a:latin typeface="Abadi" panose="020B0604020104020204" pitchFamily="34" charset="0"/>
            </a:endParaRPr>
          </a:p>
        </p:txBody>
      </p:sp>
      <p:sp>
        <p:nvSpPr>
          <p:cNvPr id="10" name="stat0">
            <a:extLst>
              <a:ext uri="{FF2B5EF4-FFF2-40B4-BE49-F238E27FC236}">
                <a16:creationId xmlns:a16="http://schemas.microsoft.com/office/drawing/2014/main" id="{09A7FD47-0E04-D7A2-8C4C-F72BD5855DB1}"/>
              </a:ext>
            </a:extLst>
          </p:cNvPr>
          <p:cNvSpPr/>
          <p:nvPr/>
        </p:nvSpPr>
        <p:spPr>
          <a:xfrm>
            <a:off x="294640" y="17830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>
              <a:latin typeface="Abadi" panose="020B0604020104020204" pitchFamily="34" charset="0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B2EF1EB7-873D-F48F-30E2-13F6B5999949}"/>
              </a:ext>
            </a:extLst>
          </p:cNvPr>
          <p:cNvSpPr txBox="1"/>
          <p:nvPr/>
        </p:nvSpPr>
        <p:spPr>
          <a:xfrm>
            <a:off x="459233" y="1906574"/>
            <a:ext cx="1028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102E"/>
                </a:solidFill>
                <a:latin typeface="Abadi" panose="020B0604020104020204" pitchFamily="34" charset="0"/>
              </a:rPr>
              <a:t>80%</a:t>
            </a:r>
            <a:endParaRPr lang="en-US" sz="3000" dirty="0">
              <a:solidFill>
                <a:srgbClr val="C8102E"/>
              </a:solidFill>
              <a:latin typeface="Abadi" panose="020B0604020104020204" pitchFamily="34" charset="0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6A75176B-C3C1-69FE-EC30-DBE6DE371A3E}"/>
              </a:ext>
            </a:extLst>
          </p:cNvPr>
          <p:cNvSpPr txBox="1"/>
          <p:nvPr/>
        </p:nvSpPr>
        <p:spPr>
          <a:xfrm>
            <a:off x="1487705" y="1918972"/>
            <a:ext cx="1418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5"/>
                </a:solidFill>
                <a:latin typeface="Abadi" panose="020B0604020104020204" pitchFamily="34" charset="0"/>
              </a:rPr>
              <a:t>Ranking Accuracy</a:t>
            </a:r>
            <a:endParaRPr lang="en-US" sz="1400" dirty="0">
              <a:solidFill>
                <a:srgbClr val="0B1F45"/>
              </a:solidFill>
              <a:latin typeface="Abadi" panose="020B0604020104020204" pitchFamily="34" charset="0"/>
            </a:endParaRPr>
          </a:p>
          <a:p>
            <a:r>
              <a:rPr lang="en-IN" sz="1100" dirty="0">
                <a:solidFill>
                  <a:srgbClr val="5B6B8C"/>
                </a:solidFill>
                <a:latin typeface="Abadi" panose="020B0604020104020204" pitchFamily="34" charset="0"/>
              </a:rPr>
              <a:t>correctly ranks who is more likely to book, 8 times in 10 (ROC AUC)</a:t>
            </a:r>
            <a:endParaRPr lang="en-US" sz="1100" dirty="0">
              <a:solidFill>
                <a:srgbClr val="5B6B8C"/>
              </a:solidFill>
              <a:latin typeface="Abadi" panose="020B0604020104020204" pitchFamily="34" charset="0"/>
            </a:endParaRPr>
          </a:p>
        </p:txBody>
      </p:sp>
      <p:sp>
        <p:nvSpPr>
          <p:cNvPr id="16" name="stat1">
            <a:extLst>
              <a:ext uri="{FF2B5EF4-FFF2-40B4-BE49-F238E27FC236}">
                <a16:creationId xmlns:a16="http://schemas.microsoft.com/office/drawing/2014/main" id="{F97D949C-7583-9566-482D-652ABC68ABF7}"/>
              </a:ext>
            </a:extLst>
          </p:cNvPr>
          <p:cNvSpPr/>
          <p:nvPr/>
        </p:nvSpPr>
        <p:spPr>
          <a:xfrm>
            <a:off x="294640" y="32918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>
              <a:latin typeface="Abadi" panose="020B0604020104020204" pitchFamily="34" charset="0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4C3CB371-8A1E-A00F-B48B-41CEB1B8E2FB}"/>
              </a:ext>
            </a:extLst>
          </p:cNvPr>
          <p:cNvSpPr txBox="1"/>
          <p:nvPr/>
        </p:nvSpPr>
        <p:spPr>
          <a:xfrm>
            <a:off x="459233" y="3429000"/>
            <a:ext cx="1178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5"/>
                </a:solidFill>
                <a:latin typeface="Abadi" panose="020B0604020104020204" pitchFamily="34" charset="0"/>
              </a:rPr>
              <a:t>50%</a:t>
            </a:r>
            <a:endParaRPr lang="en-US" sz="3000" dirty="0">
              <a:solidFill>
                <a:srgbClr val="0B1F45"/>
              </a:solidFill>
              <a:latin typeface="Abadi" panose="020B0604020104020204" pitchFamily="34" charset="0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735AECA5-E973-8072-0340-33E392CFB4F1}"/>
              </a:ext>
            </a:extLst>
          </p:cNvPr>
          <p:cNvSpPr txBox="1"/>
          <p:nvPr/>
        </p:nvSpPr>
        <p:spPr>
          <a:xfrm>
            <a:off x="1487705" y="3429000"/>
            <a:ext cx="1418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5"/>
                </a:solidFill>
                <a:latin typeface="Abadi" panose="020B0604020104020204" pitchFamily="34" charset="0"/>
              </a:rPr>
              <a:t>Bookings caught</a:t>
            </a:r>
            <a:endParaRPr lang="en-US" sz="1400" dirty="0">
              <a:solidFill>
                <a:srgbClr val="0B1F45"/>
              </a:solidFill>
              <a:latin typeface="Abadi" panose="020B0604020104020204" pitchFamily="34" charset="0"/>
            </a:endParaRPr>
          </a:p>
          <a:p>
            <a:r>
              <a:rPr lang="en-IN" sz="1100" dirty="0">
                <a:solidFill>
                  <a:srgbClr val="5B6B8C"/>
                </a:solidFill>
                <a:latin typeface="Abadi" panose="020B0604020104020204" pitchFamily="34" charset="0"/>
              </a:rPr>
              <a:t>of customers who booked were correctly flagged (recall)</a:t>
            </a:r>
            <a:endParaRPr lang="en-US" sz="1100" dirty="0">
              <a:solidFill>
                <a:srgbClr val="5B6B8C"/>
              </a:solidFill>
              <a:latin typeface="Abadi" panose="020B0604020104020204" pitchFamily="34" charset="0"/>
            </a:endParaRPr>
          </a:p>
        </p:txBody>
      </p:sp>
      <p:sp>
        <p:nvSpPr>
          <p:cNvPr id="22" name="stat2">
            <a:extLst>
              <a:ext uri="{FF2B5EF4-FFF2-40B4-BE49-F238E27FC236}">
                <a16:creationId xmlns:a16="http://schemas.microsoft.com/office/drawing/2014/main" id="{75F95F01-A24A-F64A-6FF1-5A61F4F9A26D}"/>
              </a:ext>
            </a:extLst>
          </p:cNvPr>
          <p:cNvSpPr/>
          <p:nvPr/>
        </p:nvSpPr>
        <p:spPr>
          <a:xfrm>
            <a:off x="294640" y="480060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EEF1F6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>
              <a:latin typeface="Abadi" panose="020B0604020104020204" pitchFamily="34" charset="0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C681D2C3-DABD-D378-C298-C998BFFF5F32}"/>
              </a:ext>
            </a:extLst>
          </p:cNvPr>
          <p:cNvSpPr txBox="1"/>
          <p:nvPr/>
        </p:nvSpPr>
        <p:spPr>
          <a:xfrm>
            <a:off x="459233" y="4930140"/>
            <a:ext cx="1178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5"/>
                </a:solidFill>
                <a:latin typeface="Abadi" panose="020B0604020104020204" pitchFamily="34" charset="0"/>
              </a:rPr>
              <a:t>39%</a:t>
            </a:r>
            <a:endParaRPr lang="en-US" sz="3000" dirty="0">
              <a:solidFill>
                <a:srgbClr val="0B1F45"/>
              </a:solidFill>
              <a:latin typeface="Abadi" panose="020B0604020104020204" pitchFamily="34" charset="0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07B18B51-3127-36A6-2E0D-8BEEF9D8D270}"/>
              </a:ext>
            </a:extLst>
          </p:cNvPr>
          <p:cNvSpPr txBox="1"/>
          <p:nvPr/>
        </p:nvSpPr>
        <p:spPr>
          <a:xfrm>
            <a:off x="1487705" y="4937760"/>
            <a:ext cx="1418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45"/>
                </a:solidFill>
                <a:latin typeface="Abadi" panose="020B0604020104020204" pitchFamily="34" charset="0"/>
              </a:rPr>
              <a:t>Hit rate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Abadi" panose="020B0604020104020204" pitchFamily="34" charset="0"/>
              </a:rPr>
              <a:t>of flagged customers went on to book, vs 15% at random (precision)</a:t>
            </a:r>
            <a:endParaRPr lang="en-US" sz="1400" dirty="0">
              <a:solidFill>
                <a:srgbClr val="5B6B8C"/>
              </a:solidFill>
              <a:latin typeface="Abadi" panose="020B0604020104020204" pitchFamily="34" charset="0"/>
            </a:endParaRPr>
          </a:p>
        </p:txBody>
      </p:sp>
      <p:sp>
        <p:nvSpPr>
          <p:cNvPr id="29" name="takeawayCard">
            <a:extLst>
              <a:ext uri="{FF2B5EF4-FFF2-40B4-BE49-F238E27FC236}">
                <a16:creationId xmlns:a16="http://schemas.microsoft.com/office/drawing/2014/main" id="{03660337-5807-1AE7-99F2-9763B72C9C50}"/>
              </a:ext>
            </a:extLst>
          </p:cNvPr>
          <p:cNvSpPr/>
          <p:nvPr/>
        </p:nvSpPr>
        <p:spPr>
          <a:xfrm>
            <a:off x="9045448" y="1787843"/>
            <a:ext cx="2851912" cy="4288154"/>
          </a:xfrm>
          <a:prstGeom prst="roundRect">
            <a:avLst>
              <a:gd name="adj" fmla="val 2402"/>
            </a:avLst>
          </a:prstGeom>
          <a:solidFill>
            <a:srgbClr val="0B1F45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>
              <a:latin typeface="Abadi" panose="020B0604020104020204" pitchFamily="34" charset="0"/>
            </a:endParaRPr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ECB2A66B-0CC4-0C58-2F42-3788CAE1F869}"/>
              </a:ext>
            </a:extLst>
          </p:cNvPr>
          <p:cNvSpPr txBox="1"/>
          <p:nvPr/>
        </p:nvSpPr>
        <p:spPr>
          <a:xfrm>
            <a:off x="9328752" y="1925003"/>
            <a:ext cx="2404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Abadi" panose="020B0604020104020204" pitchFamily="34" charset="0"/>
              </a:rPr>
              <a:t>Key findings</a:t>
            </a:r>
            <a:endParaRPr lang="en-US" sz="1600" dirty="0">
              <a:latin typeface="Abadi" panose="020B0604020104020204" pitchFamily="34" charset="0"/>
            </a:endParaRPr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26982882-B24A-8794-4BA4-CAF3F425D0D8}"/>
              </a:ext>
            </a:extLst>
          </p:cNvPr>
          <p:cNvSpPr txBox="1"/>
          <p:nvPr/>
        </p:nvSpPr>
        <p:spPr>
          <a:xfrm>
            <a:off x="9328752" y="2382203"/>
            <a:ext cx="240401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200"/>
              </a:spcAft>
            </a:pPr>
            <a:r>
              <a:rPr lang="en-US" sz="1300" b="1" dirty="0">
                <a:solidFill>
                  <a:schemeClr val="bg1"/>
                </a:solidFill>
                <a:latin typeface="Abadi" panose="020B0604020104020204" pitchFamily="34" charset="0"/>
              </a:rPr>
              <a:t>Location drives bookings.</a:t>
            </a:r>
            <a:r>
              <a:rPr lang="en-US" sz="1300" dirty="0">
                <a:solidFill>
                  <a:srgbClr val="D6DCE8"/>
                </a:solidFill>
                <a:latin typeface="Abadi" panose="020B0604020104020204" pitchFamily="34" charset="0"/>
              </a:rPr>
              <a:t> </a:t>
            </a:r>
            <a:r>
              <a:rPr lang="en-IN" sz="1300" dirty="0">
                <a:solidFill>
                  <a:srgbClr val="D6DCE8"/>
                </a:solidFill>
                <a:latin typeface="Abadi" panose="020B0604020104020204" pitchFamily="34" charset="0"/>
              </a:rPr>
              <a:t>Booking origin and route explain about three-quarters of the model’s power. Australia converts at 5%, Malaysia at 34%.</a:t>
            </a:r>
            <a:endParaRPr lang="en-US" sz="1300" dirty="0">
              <a:solidFill>
                <a:srgbClr val="D6DCE8"/>
              </a:solidFill>
              <a:latin typeface="Abadi" panose="020B0604020104020204" pitchFamily="34" charset="0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sz="1300" b="1" dirty="0">
                <a:solidFill>
                  <a:schemeClr val="bg1"/>
                </a:solidFill>
                <a:latin typeface="Abadi" panose="020B0604020104020204" pitchFamily="34" charset="0"/>
              </a:rPr>
              <a:t>Trip details add a little.</a:t>
            </a:r>
            <a:r>
              <a:rPr lang="en-US" sz="1300" dirty="0">
                <a:solidFill>
                  <a:srgbClr val="D6DCE8"/>
                </a:solidFill>
                <a:latin typeface="Abadi" panose="020B0604020104020204" pitchFamily="34" charset="0"/>
              </a:rPr>
              <a:t> Length of stay, mobile vs web and purchase lead help, but far less.</a:t>
            </a:r>
            <a:endParaRPr lang="en-US" sz="1300" dirty="0">
              <a:latin typeface="Abadi" panose="020B0604020104020204" pitchFamily="34" charset="0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sz="1300" b="1" dirty="0">
                <a:solidFill>
                  <a:schemeClr val="bg1"/>
                </a:solidFill>
                <a:latin typeface="Abadi" panose="020B0604020104020204" pitchFamily="34" charset="0"/>
              </a:rPr>
              <a:t>Extras matter less than expected.</a:t>
            </a:r>
            <a:r>
              <a:rPr lang="en-US" sz="1300" dirty="0">
                <a:solidFill>
                  <a:srgbClr val="D6DCE8"/>
                </a:solidFill>
                <a:latin typeface="Abadi" panose="020B0604020104020204" pitchFamily="34" charset="0"/>
              </a:rPr>
              <a:t> Baggage buyers do book more, but it adds little on top of location.</a:t>
            </a:r>
            <a:endParaRPr lang="en-US" sz="1300" dirty="0">
              <a:latin typeface="Abadi" panose="020B0604020104020204" pitchFamily="34" charset="0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sz="1300" b="1" dirty="0">
                <a:solidFill>
                  <a:schemeClr val="bg1"/>
                </a:solidFill>
                <a:latin typeface="Abadi" panose="020B0604020104020204" pitchFamily="34" charset="0"/>
              </a:rPr>
              <a:t>Next step:</a:t>
            </a:r>
            <a:r>
              <a:rPr lang="en-US" sz="1300" dirty="0">
                <a:solidFill>
                  <a:srgbClr val="D6DCE8"/>
                </a:solidFill>
                <a:latin typeface="Abadi" panose="020B0604020104020204" pitchFamily="34" charset="0"/>
              </a:rPr>
              <a:t> add price, past bookings and browsing data to improve accuracy.</a:t>
            </a:r>
            <a:endParaRPr lang="en-US" sz="1300" dirty="0">
              <a:latin typeface="Abadi" panose="020B0604020104020204" pitchFamily="34" charset="0"/>
            </a:endParaRPr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A1A39323-612A-C00C-722C-E7DB20717D3A}"/>
              </a:ext>
            </a:extLst>
          </p:cNvPr>
          <p:cNvSpPr txBox="1"/>
          <p:nvPr/>
        </p:nvSpPr>
        <p:spPr>
          <a:xfrm>
            <a:off x="3847084" y="218089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45"/>
                </a:solidFill>
                <a:latin typeface="Abadi" panose="020B0604020104020204" pitchFamily="34" charset="0"/>
              </a:rPr>
              <a:t>What drives the prediction</a:t>
            </a:r>
            <a:endParaRPr lang="en-US" dirty="0">
              <a:solidFill>
                <a:srgbClr val="0B1F45"/>
              </a:solidFill>
              <a:latin typeface="Abadi" panose="020B0604020104020204" pitchFamily="34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5B6B8C"/>
                </a:solidFill>
                <a:latin typeface="Abadi" panose="020B0604020104020204" pitchFamily="34" charset="0"/>
              </a:rPr>
              <a:t>Share of total importance (permutation importance)</a:t>
            </a:r>
            <a:endParaRPr lang="en-US" dirty="0">
              <a:solidFill>
                <a:srgbClr val="5B6B8C"/>
              </a:solidFill>
              <a:latin typeface="Abadi" panose="020B0604020104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732DBA-D91C-4E92-9615-7A3CB9F4EEEB}"/>
              </a:ext>
            </a:extLst>
          </p:cNvPr>
          <p:cNvSpPr txBox="1"/>
          <p:nvPr/>
        </p:nvSpPr>
        <p:spPr>
          <a:xfrm>
            <a:off x="294640" y="6294120"/>
            <a:ext cx="11701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200" b="1" dirty="0">
                <a:solidFill>
                  <a:srgbClr val="5B6B8C"/>
                </a:solidFill>
                <a:latin typeface="Abadi" panose="020B0604020104020204" pitchFamily="34" charset="0"/>
              </a:rPr>
              <a:t>Data: </a:t>
            </a:r>
            <a:r>
              <a:rPr lang="en-IN" sz="1200" dirty="0">
                <a:solidFill>
                  <a:srgbClr val="5B6B8C"/>
                </a:solidFill>
                <a:latin typeface="Abadi" panose="020B0604020104020204" pitchFamily="34" charset="0"/>
              </a:rPr>
              <a:t>50,000 bookings (49,281 after removing duplicates). New features: number of extras added (baggage, seat, meal), weekend flight, origin and destination airport.  </a:t>
            </a:r>
          </a:p>
          <a:p>
            <a:pPr algn="just"/>
            <a:r>
              <a:rPr lang="en-IN" sz="1200" b="1" dirty="0">
                <a:solidFill>
                  <a:srgbClr val="5B6B8C"/>
                </a:solidFill>
                <a:latin typeface="Abadi" panose="020B0604020104020204" pitchFamily="34" charset="0"/>
              </a:rPr>
              <a:t>Model: </a:t>
            </a:r>
            <a:r>
              <a:rPr lang="en-IN" sz="1200" dirty="0">
                <a:solidFill>
                  <a:srgbClr val="5B6B8C"/>
                </a:solidFill>
                <a:latin typeface="Abadi" panose="020B0604020104020204" pitchFamily="34" charset="0"/>
              </a:rPr>
              <a:t>Random Forest with class balancing, 5-fold stratified cross-validation.</a:t>
            </a:r>
          </a:p>
        </p:txBody>
      </p:sp>
      <p:pic>
        <p:nvPicPr>
          <p:cNvPr id="41" name="Picture 40" descr="The image illustrates a bar chart depicting various factors influencing customer booking completion, with country of origin being the most significant at 49%, followed by route, length of stay, and others.&#10;&#10;AI-generated content may be incorrect.">
            <a:extLst>
              <a:ext uri="{FF2B5EF4-FFF2-40B4-BE49-F238E27FC236}">
                <a16:creationId xmlns:a16="http://schemas.microsoft.com/office/drawing/2014/main" id="{A6665675-0D50-8956-0BEA-58E2B7219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887" y="2870521"/>
            <a:ext cx="5748073" cy="3191172"/>
          </a:xfrm>
          <a:prstGeom prst="rect">
            <a:avLst/>
          </a:prstGeom>
          <a:ln>
            <a:solidFill>
              <a:srgbClr val="0B1F45"/>
            </a:solidFill>
            <a:prstDash val="dash"/>
          </a:ln>
        </p:spPr>
      </p:pic>
    </p:spTree>
    <p:extLst>
      <p:ext uri="{BB962C8B-B14F-4D97-AF65-F5344CB8AC3E}">
        <p14:creationId xmlns:p14="http://schemas.microsoft.com/office/powerpoint/2010/main" val="922463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258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Shruti Patil</dc:creator>
  <cp:lastModifiedBy>Shruti Patil</cp:lastModifiedBy>
  <cp:revision>8</cp:revision>
  <dcterms:created xsi:type="dcterms:W3CDTF">2026-10-24T16:03:29Z</dcterms:created>
  <dcterms:modified xsi:type="dcterms:W3CDTF">2026-10-24T17:08:36Z</dcterms:modified>
</cp:coreProperties>
</file>